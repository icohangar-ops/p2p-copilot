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pPr marL="0" indent="0">
              <a:buNone/>
            </a:pPr>
            <a:r>
              <a:rPr>
                <a:solidFill/>
              </a:rPr>
              <a:t>UiPath AgentHack 2026  |  Track 2: Maestro BPMN</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pPr marL="0" indent="0">
              <a:buNone/>
            </a:pPr>
            <a:r>
              <a:rPr>
                <a:solidFill/>
              </a:rPr>
              <a:t>P2P Copilot
AI-Powered Procure-to-Pay</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Shyam Desigan</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CFO/SVP Finance &amp; AI Builder
shyam@cubiczan.com</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Claude Code (AI Agent)</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Anthropic Claude (Coding Agent)
Full codebase architecture &amp; implementation</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UiPath Maestro</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BPMN 2.0 Process Orchestration
End-to-end P2P workflow automation</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GPT-4o Vision</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Document Understanding
Invoice OCR &amp; structured extraction</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marL="0" indent="0">
              <a:buNone/>
            </a:pPr>
            <a:r>
              <a:rPr>
                <a:solidFill/>
              </a:rPr>
              <a:t>Cubiczan  |  P2P Copilot</a:t>
            </a: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pPr marL="0" indent="0">
              <a:buNone/>
            </a:pPr>
            <a:r>
              <a:rPr>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pPr marL="0" indent="0">
              <a:buNone/>
            </a:pPr>
            <a:r>
              <a:rPr>
                <a:solidFill/>
              </a:rPr>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365760" indent="-182880" fontAlgn="base" algn="l">
              <a:buChar char="•"/>
            </a:pPr>
            <a:r>
              <a:rPr>
                <a:solidFill/>
              </a:rPr>
              <a:t>Enterprise AP teams manually process thousands of invoices monthly, causing:</a:t>
            </a:r>
          </a:p>
          <a:p>
            <a:pPr marL="365760" indent="-182880" algn="l">
              <a:buChar char="•"/>
            </a:pPr>
            <a:r>
              <a:rPr>
                <a:solidFill/>
              </a:rPr>
              <a:t>3-5% duplicate payment rate costing millions annually</a:t>
            </a:r>
          </a:p>
          <a:p>
            <a:pPr marL="365760" indent="-182880" algn="l">
              <a:buChar char="•"/>
            </a:pPr>
            <a:r>
              <a:rPr>
                <a:solidFill/>
              </a:rPr>
              <a:t>15+ days average invoice processing cycle time</a:t>
            </a:r>
          </a:p>
          <a:p>
            <a:pPr marL="365760" indent="-182880" algn="l">
              <a:buChar char="•"/>
            </a:pPr>
            <a:r>
              <a:rPr>
                <a:solidFill/>
              </a:rPr>
              <a:t>60%+ of AP staff time spent on manual data entry</a:t>
            </a:r>
          </a:p>
          <a:p>
            <a:pPr marL="365760" indent="-182880" algn="l">
              <a:buChar char="•"/>
            </a:pPr>
            <a:r>
              <a:rPr>
                <a:solidFill/>
              </a:rPr>
              <a:t>No real-time visibility into payment pipeline status</a:t>
            </a:r>
          </a:p>
          <a:p>
            <a:pPr marL="365760" indent="-182880" algn="l">
              <a:buChar char="•"/>
            </a:pPr>
            <a:r>
              <a:rPr>
                <a:solidFill/>
              </a:rPr>
              <a:t>Audit trail gaps that create compliance and SOX risk</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pPr marL="0" indent="0">
              <a:buNone/>
            </a:pPr>
            <a:r>
              <a:rPr>
                <a:solidFill/>
              </a:rPr>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365760" indent="-182880" fontAlgn="base" algn="l">
              <a:buChar char="•"/>
            </a:pPr>
            <a:r>
              <a:rPr>
                <a:solidFill/>
              </a:rPr>
              <a:t>P2P Copilot: a 6-stage AI pipeline via UiPath Maestro BPMN</a:t>
            </a:r>
          </a:p>
          <a:p>
            <a:pPr marL="365760" indent="-182880" algn="l">
              <a:buChar char="•"/>
            </a:pPr>
            <a:r>
              <a:rPr>
                <a:solidFill/>
              </a:rPr>
              <a:t>Stage 1: Invoice Intake via GPT-4o Vision OCR</a:t>
            </a:r>
          </a:p>
          <a:p>
            <a:pPr marL="365760" indent="-182880" algn="l">
              <a:buChar char="•"/>
            </a:pPr>
            <a:r>
              <a:rPr>
                <a:solidFill/>
              </a:rPr>
              <a:t>Stage 2: AI Validation against POs and contracts</a:t>
            </a:r>
          </a:p>
          <a:p>
            <a:pPr marL="365760" indent="-182880" algn="l">
              <a:buChar char="•"/>
            </a:pPr>
            <a:r>
              <a:rPr>
                <a:solidFill/>
              </a:rPr>
              <a:t>Stage 3: ML Anomaly Detection (isolation forest + rules)</a:t>
            </a:r>
          </a:p>
          <a:p>
            <a:pPr marL="365760" indent="-182880" algn="l">
              <a:buChar char="•"/>
            </a:pPr>
            <a:r>
              <a:rPr>
                <a:solidFill/>
              </a:rPr>
              <a:t>Stage 4: Dynamic Approval Routing via Orchestrator</a:t>
            </a:r>
          </a:p>
          <a:p>
            <a:pPr marL="365760" indent="-182880" algn="l">
              <a:buChar char="•"/>
            </a:pPr>
            <a:r>
              <a:rPr>
                <a:solidFill/>
              </a:rPr>
              <a:t>Stage 5: Payment Execution (ACH/wire + ERP posting)</a:t>
            </a:r>
          </a:p>
          <a:p>
            <a:pPr marL="365760" indent="-182880" algn="l">
              <a:buChar char="•"/>
            </a:pPr>
            <a:r>
              <a:rPr>
                <a:solidFill/>
              </a:rPr>
              <a:t>Stage 6: Real-time Audit Trail Dashboard (FastAPI)</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marL="0" indent="0">
              <a:buNone/>
            </a:pPr>
            <a:r>
              <a:rPr>
                <a:solidFill/>
              </a:rPr>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r>
                        <a:t>End-user</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AP/Finance teams, CFO office, accounts payable clerks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r>
                        <a:t>User department</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Finance, Procurement, Operations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r>
                        <a:t>Industries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Enterprise (any industry with vendor invoice processing)</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r>
                        <a:t>UiPath products used</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Maestro (BPMN 2.0), Studio (REFramework), Orchestrator (Queues), Action Center (HITL approvals), AI Center (Document Understanding), API Workflows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r>
                        <a:t>Other technologies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r>
                        <a:t>Python 3.11, GPT-4o Vision (OCR), Claude LLM (validation), scikit-learn (anomaly detection), FastAPI (dashboard), Pydantic (models), structlog (auditing)</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Impact &amp;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65760" indent="-182880" algn="l">
              <a:buChar char="•"/>
            </a:pPr>
            <a:r>
              <a:rPr>
                <a:solidFill/>
              </a:rPr>
              <a:t>60-70% of invoices auto-approved (zero-touch)</a:t>
            </a:r>
          </a:p>
          <a:p>
            <a:pPr marL="365760" indent="-182880" algn="l">
              <a:buChar char="•"/>
            </a:pPr>
            <a:r>
              <a:rPr>
                <a:solidFill/>
              </a:rPr>
              <a:t>Processing time reduced from 15 days to under 24 hours</a:t>
            </a:r>
          </a:p>
          <a:p>
            <a:pPr marL="365760" indent="-182880" algn="l">
              <a:buChar char="•"/>
            </a:pPr>
            <a:r>
              <a:rPr>
                <a:solidFill/>
              </a:rPr>
              <a:t>Duplicate payment detection with 99% confidence</a:t>
            </a:r>
          </a:p>
          <a:p>
            <a:pPr marL="365760" indent="-182880" algn="l">
              <a:buChar char="•"/>
            </a:pPr>
            <a:r>
              <a:rPr>
                <a:solidFill/>
              </a:rPr>
              <a:t>Full SOX-compliant audit trail for every decision</a:t>
            </a:r>
          </a:p>
          <a:p>
            <a:pPr marL="365760" indent="-182880" algn="l">
              <a:buChar char="•"/>
            </a:pPr>
            <a:r>
              <a:rPr>
                <a:solidFill/>
              </a:rPr>
              <a:t>Dynamic approval routing eliminates bottlenecks</a:t>
            </a:r>
          </a:p>
          <a:p>
            <a:pPr marL="365760" indent="-182880" algn="l">
              <a:buChar char="•"/>
            </a:pPr>
            <a:r>
              <a:rPr>
                <a:solidFill/>
              </a:rPr>
              <a:t>Real-time dashboard replaces manual status chasing</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a:solidFill/>
              </a:rPr>
              <a:t>Technologies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marL="0" indent="0">
              <a:buNone/>
            </a:pPr>
            <a:r>
              <a:rPr>
                <a:solidFill/>
              </a:rPr>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b="0" sz="1800">
                <a:solidFill/>
              </a:rPr>
              <a:t>UiPath Maestro BPMN orchestrates the full 6-stage pipeline. Each stage is an AI agent with a specific role:</a:t>
            </a:r>
            <a:endParaRPr lang="en-US" sz="1800" b="0" dirty="0">
              <a:solidFill>
                <a:schemeClr val="bg1"/>
              </a:solidFill>
            </a:endParaRPr>
          </a:p>
          <a:p>
            <a:pPr marL="0" indent="0">
              <a:buNone/>
            </a:pPr>
            <a:r>
              <a:rPr b="0" sz="1800">
                <a:solidFill/>
              </a:rPr>
              <a:t>Invoice Received &gt; OCR Extract (GPT-4o Vision) &gt; AI Validate (Claude LLM + PO Match) &gt; Anomaly Detect (scikit-learn + YAML Rules) &gt; Route Approval (Orchestrator Queue + Action Center) &gt; Execute Payment (NACHA ACH + ERP API) &gt; Audit Log (FastAPI Dashboard)</a:t>
            </a:r>
          </a:p>
          <a:p>
            <a:pPr marL="0" indent="0">
              <a:buNone/>
            </a:pPr>
            <a:r>
              <a:rPr b="0" sz="1800">
                <a:solidFill/>
              </a:rPr>
              <a:t>Decision gates at each stage: extraction confidence check, validation pass/fail, anomaly risk scoring, approval level routing (Auto/$5K-$25K/$25K-$100K/$100K+), and payment confirmation loop.</a:t>
            </a:r>
          </a:p>
          <a:p>
            <a:pPr marL="0" indent="0">
              <a:buNone/>
            </a:pPr>
            <a:r>
              <a:rPr b="0" sz="1800">
                <a:solidFill/>
              </a:rPr>
              <a:t>Python backend: Pydantic models, structlog, httpx. BPMN process with 18 nodes, 6 gateways, 3 user tasks, and full branching logic.</a:t>
            </a:r>
          </a:p>
        </p:txBody>
      </p:sp>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marL="0" indent="0">
              <a:buNone/>
            </a:pPr>
            <a:r>
              <a:rPr>
                <a:solidFill/>
              </a:rPr>
              <a:t>Demo walkthrough</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b="0" sz="1800">
                <a:solidFill/>
              </a:rPr>
              <a:t>Live demo shows an invoice flowing through all 6 stages:</a:t>
            </a:r>
          </a:p>
          <a:p>
            <a:pPr marL="0" indent="0">
              <a:buNone/>
            </a:pPr>
            <a:r>
              <a:rPr b="0" sz="1800">
                <a:solidFill/>
              </a:rPr>
              <a:t>Invoice uploaded &gt; OCR extracts vendor, amounts, line items &gt; AI validates against PO &gt; Anomaly detector flags duplicates and overcharges &gt; Approval router assigns based on amount and risk &gt; Payment executor generates ACH file &gt; Full audit trail on dashboard</a:t>
            </a:r>
          </a:p>
          <a:p>
            <a:pPr marL="0" indent="0">
              <a:buNone/>
            </a:pPr>
            <a:r>
              <a:rPr b="0" sz="1800">
                <a:solidFill/>
              </a:rPr>
              <a:t>Built with Claude Code (Anthropic's AI coding agent) for full codebase scaffolding, implementation, and testing.</a:t>
            </a:r>
          </a:p>
          <a:p>
            <a:pPr marL="0" indent="0">
              <a:buNone/>
            </a:pPr>
            <a:r>
              <a:rPr b="0" sz="1800">
                <a:solidFill/>
              </a:rPr>
              <a:t>Code: codeberg.org/cubiczan/p2p-copilot</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pPr marL="0" indent="0">
              <a:buNone/>
            </a:pPr>
            <a:r>
              <a:rPr>
                <a:solidFill/>
              </a:rPr>
              <a:t>Thank you  |  P2P Copilot  |  codeberg.org/cubiczan/p2p-copilot</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